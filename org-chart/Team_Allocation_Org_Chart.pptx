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Winnie: Ahmed, Yadab, Lilian. Inam: Shah, Anjie, Dauson. Fatima (ERG/Skyview) stands alone between the two and draws support from both. Gold chips mark the service providers each person runs.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 row sits under Inam, bottom row under Winnie. Al Qasr is cross-line: run by Yadab on Winnie's team, with Inam as lead.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74520" y="1353312"/>
            <a:ext cx="2560320" cy="960120"/>
          </a:xfrm>
          <a:prstGeom prst="roundRect">
            <a:avLst>
              <a:gd name="adj" fmla="val 6667"/>
            </a:avLst>
          </a:prstGeom>
          <a:solidFill>
            <a:srgbClr val="0F7B8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38100" dir="5400000">
              <a:srgbClr val="1B2A4A">
                <a:alpha val="2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2075688" y="1444752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Winnie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075688" y="1847088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 · GF · FF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726680" y="1353312"/>
            <a:ext cx="2560320" cy="960120"/>
          </a:xfrm>
          <a:prstGeom prst="roundRect">
            <a:avLst>
              <a:gd name="adj" fmla="val 6667"/>
            </a:avLst>
          </a:prstGeom>
          <a:solidFill>
            <a:srgbClr val="BF5A24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38100" dir="5400000">
              <a:srgbClr val="1B2A4A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927848" y="1444752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Inam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927848" y="1847088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 · CT · FV · Zabeel · Metro Link Bridge · Cinema Parking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029200" y="1463040"/>
            <a:ext cx="2103120" cy="731520"/>
          </a:xfrm>
          <a:prstGeom prst="roundRect">
            <a:avLst>
              <a:gd name="adj" fmla="val 8750"/>
            </a:avLst>
          </a:prstGeom>
          <a:solidFill>
            <a:srgbClr val="F7F9FC"/>
          </a:solidFill>
          <a:ln w="15875">
            <a:solidFill>
              <a:srgbClr val="5B6B82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5193792" y="1563624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Fatima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193792" y="1856232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ERG/Skyview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709160" y="22402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E7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by Winnie &amp; Inam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434840" y="1828800"/>
            <a:ext cx="594360" cy="0"/>
          </a:xfrm>
          <a:prstGeom prst="line">
            <a:avLst/>
          </a:prstGeom>
          <a:noFill/>
          <a:ln w="15875">
            <a:solidFill>
              <a:srgbClr val="5B6B82"/>
            </a:solidFill>
            <a:prstDash val="dash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132320" y="1828800"/>
            <a:ext cx="594360" cy="0"/>
          </a:xfrm>
          <a:prstGeom prst="line">
            <a:avLst/>
          </a:prstGeom>
          <a:noFill/>
          <a:ln w="15875">
            <a:solidFill>
              <a:srgbClr val="5B6B82"/>
            </a:solidFill>
            <a:prstDash val="dash"/>
            <a:headEnd type="triangle"/>
          </a:ln>
        </p:spPr>
      </p:sp>
      <p:sp>
        <p:nvSpPr>
          <p:cNvPr id="14" name="Shape 12"/>
          <p:cNvSpPr/>
          <p:nvPr/>
        </p:nvSpPr>
        <p:spPr>
          <a:xfrm>
            <a:off x="3154680" y="2313432"/>
            <a:ext cx="0" cy="384048"/>
          </a:xfrm>
          <a:prstGeom prst="line">
            <a:avLst/>
          </a:prstGeom>
          <a:noFill/>
          <a:ln w="19050">
            <a:solidFill>
              <a:srgbClr val="0F7B8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89304" y="2697480"/>
            <a:ext cx="3730752" cy="0"/>
          </a:xfrm>
          <a:prstGeom prst="line">
            <a:avLst/>
          </a:prstGeom>
          <a:noFill/>
          <a:ln w="19050">
            <a:solidFill>
              <a:srgbClr val="0F7B8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89304" y="2697480"/>
            <a:ext cx="0" cy="365760"/>
          </a:xfrm>
          <a:prstGeom prst="line">
            <a:avLst/>
          </a:prstGeom>
          <a:noFill/>
          <a:ln w="19050">
            <a:solidFill>
              <a:srgbClr val="0F7B8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54680" y="2697480"/>
            <a:ext cx="0" cy="365760"/>
          </a:xfrm>
          <a:prstGeom prst="line">
            <a:avLst/>
          </a:prstGeom>
          <a:noFill/>
          <a:ln w="19050">
            <a:solidFill>
              <a:srgbClr val="0F7B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0056" y="2697480"/>
            <a:ext cx="0" cy="365760"/>
          </a:xfrm>
          <a:prstGeom prst="line">
            <a:avLst/>
          </a:prstGeom>
          <a:noFill/>
          <a:ln w="19050">
            <a:solidFill>
              <a:srgbClr val="0F7B8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006840" y="2313432"/>
            <a:ext cx="0" cy="384048"/>
          </a:xfrm>
          <a:prstGeom prst="line">
            <a:avLst/>
          </a:prstGeom>
          <a:noFill/>
          <a:ln w="19050">
            <a:solidFill>
              <a:srgbClr val="BF5A2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41464" y="2697480"/>
            <a:ext cx="3730752" cy="0"/>
          </a:xfrm>
          <a:prstGeom prst="line">
            <a:avLst/>
          </a:prstGeom>
          <a:noFill/>
          <a:ln w="19050">
            <a:solidFill>
              <a:srgbClr val="BF5A2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41464" y="2697480"/>
            <a:ext cx="0" cy="365760"/>
          </a:xfrm>
          <a:prstGeom prst="line">
            <a:avLst/>
          </a:prstGeom>
          <a:noFill/>
          <a:ln w="19050">
            <a:solidFill>
              <a:srgbClr val="BF5A2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006840" y="2697480"/>
            <a:ext cx="0" cy="365760"/>
          </a:xfrm>
          <a:prstGeom prst="line">
            <a:avLst/>
          </a:prstGeom>
          <a:noFill/>
          <a:ln w="19050">
            <a:solidFill>
              <a:srgbClr val="BF5A2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872216" y="2697480"/>
            <a:ext cx="0" cy="365760"/>
          </a:xfrm>
          <a:prstGeom prst="line">
            <a:avLst/>
          </a:prstGeom>
          <a:noFill/>
          <a:ln w="19050">
            <a:solidFill>
              <a:srgbClr val="BF5A2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063240"/>
            <a:ext cx="1664208" cy="2505456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063240"/>
            <a:ext cx="1664208" cy="420624"/>
          </a:xfrm>
          <a:prstGeom prst="roundRect">
            <a:avLst>
              <a:gd name="adj" fmla="val 15217"/>
            </a:avLst>
          </a:prstGeom>
          <a:solidFill>
            <a:srgbClr val="0F7B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273552"/>
            <a:ext cx="1664208" cy="210312"/>
          </a:xfrm>
          <a:prstGeom prst="rect">
            <a:avLst/>
          </a:prstGeom>
          <a:solidFill>
            <a:srgbClr val="0F7B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5216" y="3063240"/>
            <a:ext cx="1408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Ahmed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85216" y="3538728"/>
            <a:ext cx="1408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6E7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AREAS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585216" y="3703320"/>
            <a:ext cx="14081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FAE</a:t>
            </a:r>
            <a:endParaRPr lang="en-US" sz="7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 First Floor</a:t>
            </a:r>
            <a:endParaRPr lang="en-US" sz="7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 Parking</a:t>
            </a:r>
            <a:endParaRPr lang="en-US" sz="7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 2 &amp; 4</a:t>
            </a:r>
            <a:endParaRPr lang="en-US" sz="7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Garbage Rooms</a:t>
            </a:r>
            <a:endParaRPr lang="en-US" sz="7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prayer rooms/washrooms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585216" y="4709160"/>
            <a:ext cx="1408176" cy="0"/>
          </a:xfrm>
          <a:prstGeom prst="line">
            <a:avLst/>
          </a:prstGeom>
          <a:noFill/>
          <a:ln w="9525">
            <a:solidFill>
              <a:srgbClr val="DCE3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5216" y="4764024"/>
            <a:ext cx="1408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120" kern="0" dirty="0">
                <a:solidFill>
                  <a:srgbClr val="8A5C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PROVIDERS</a:t>
            </a:r>
            <a:endParaRPr lang="en-US" sz="650" dirty="0"/>
          </a:p>
        </p:txBody>
      </p:sp>
      <p:sp>
        <p:nvSpPr>
          <p:cNvPr id="32" name="Shape 30"/>
          <p:cNvSpPr/>
          <p:nvPr/>
        </p:nvSpPr>
        <p:spPr>
          <a:xfrm>
            <a:off x="585216" y="4937760"/>
            <a:ext cx="1408176" cy="246888"/>
          </a:xfrm>
          <a:prstGeom prst="roundRect">
            <a:avLst>
              <a:gd name="adj" fmla="val 22222"/>
            </a:avLst>
          </a:prstGeom>
          <a:solidFill>
            <a:srgbClr val="FCF4E3"/>
          </a:solidFill>
          <a:ln w="9525">
            <a:solidFill>
              <a:srgbClr val="C8912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67512" y="5033772"/>
            <a:ext cx="54864" cy="54864"/>
          </a:xfrm>
          <a:prstGeom prst="ellipse">
            <a:avLst/>
          </a:prstGeom>
          <a:solidFill>
            <a:srgbClr val="C891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" y="4937760"/>
            <a:ext cx="12435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A5C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Marblelife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85216" y="5230368"/>
            <a:ext cx="1408176" cy="246888"/>
          </a:xfrm>
          <a:prstGeom prst="roundRect">
            <a:avLst>
              <a:gd name="adj" fmla="val 22222"/>
            </a:avLst>
          </a:prstGeom>
          <a:solidFill>
            <a:srgbClr val="FCF4E3"/>
          </a:solidFill>
          <a:ln w="9525">
            <a:solidFill>
              <a:srgbClr val="C8912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67512" y="5326380"/>
            <a:ext cx="54864" cy="54864"/>
          </a:xfrm>
          <a:prstGeom prst="ellipse">
            <a:avLst/>
          </a:prstGeom>
          <a:solidFill>
            <a:srgbClr val="C891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9808" y="5230368"/>
            <a:ext cx="12435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A5C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Rezaroma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322576" y="3063240"/>
            <a:ext cx="1664208" cy="2505456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4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2322576" y="3063240"/>
            <a:ext cx="1664208" cy="420624"/>
          </a:xfrm>
          <a:prstGeom prst="roundRect">
            <a:avLst>
              <a:gd name="adj" fmla="val 15217"/>
            </a:avLst>
          </a:prstGeom>
          <a:solidFill>
            <a:srgbClr val="0F7B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322576" y="3273552"/>
            <a:ext cx="1664208" cy="210312"/>
          </a:xfrm>
          <a:prstGeom prst="rect">
            <a:avLst/>
          </a:prstGeom>
          <a:solidFill>
            <a:srgbClr val="0F7B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450592" y="3063240"/>
            <a:ext cx="1408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Yadab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2450592" y="3538728"/>
            <a:ext cx="1408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6E7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AREAS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2450592" y="3703320"/>
            <a:ext cx="14081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LG/Promenade</a:t>
            </a:r>
            <a:endParaRPr lang="en-US" sz="7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</a:t>
            </a:r>
            <a:endParaRPr lang="en-US" sz="7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Parking</a:t>
            </a:r>
            <a:endParaRPr lang="en-US" sz="7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 3 &amp; 1</a:t>
            </a:r>
            <a:endParaRPr lang="en-US" sz="7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Garbage rooms</a:t>
            </a:r>
            <a:endParaRPr lang="en-US" sz="7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prayer rooms/washrooms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2450592" y="4709160"/>
            <a:ext cx="1408176" cy="0"/>
          </a:xfrm>
          <a:prstGeom prst="line">
            <a:avLst/>
          </a:prstGeom>
          <a:noFill/>
          <a:ln w="9525">
            <a:solidFill>
              <a:srgbClr val="DCE3E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450592" y="4764024"/>
            <a:ext cx="1408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120" kern="0" dirty="0">
                <a:solidFill>
                  <a:srgbClr val="8A5C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PROVIDERS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2450592" y="4937760"/>
            <a:ext cx="1408176" cy="246888"/>
          </a:xfrm>
          <a:prstGeom prst="roundRect">
            <a:avLst>
              <a:gd name="adj" fmla="val 22222"/>
            </a:avLst>
          </a:prstGeom>
          <a:solidFill>
            <a:srgbClr val="FCF4E3"/>
          </a:solidFill>
          <a:ln w="9525">
            <a:solidFill>
              <a:srgbClr val="C8912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532888" y="5033772"/>
            <a:ext cx="54864" cy="54864"/>
          </a:xfrm>
          <a:prstGeom prst="ellipse">
            <a:avLst/>
          </a:prstGeom>
          <a:solidFill>
            <a:srgbClr val="C891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615184" y="4937760"/>
            <a:ext cx="12435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A5C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2450592" y="5230368"/>
            <a:ext cx="1408176" cy="246888"/>
          </a:xfrm>
          <a:prstGeom prst="roundRect">
            <a:avLst>
              <a:gd name="adj" fmla="val 22222"/>
            </a:avLst>
          </a:prstGeom>
          <a:solidFill>
            <a:srgbClr val="FCF4E3"/>
          </a:solidFill>
          <a:ln w="9525">
            <a:solidFill>
              <a:srgbClr val="C8912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532888" y="5326380"/>
            <a:ext cx="54864" cy="54864"/>
          </a:xfrm>
          <a:prstGeom prst="ellipse">
            <a:avLst/>
          </a:prstGeom>
          <a:solidFill>
            <a:srgbClr val="C891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615184" y="5230368"/>
            <a:ext cx="12435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A5C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Qasr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4187952" y="3063240"/>
            <a:ext cx="1664208" cy="2505456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4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4187952" y="3063240"/>
            <a:ext cx="1664208" cy="420624"/>
          </a:xfrm>
          <a:prstGeom prst="roundRect">
            <a:avLst>
              <a:gd name="adj" fmla="val 15217"/>
            </a:avLst>
          </a:prstGeom>
          <a:solidFill>
            <a:srgbClr val="0F7B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187952" y="3273552"/>
            <a:ext cx="1664208" cy="210312"/>
          </a:xfrm>
          <a:prstGeom prst="rect">
            <a:avLst/>
          </a:prstGeom>
          <a:solidFill>
            <a:srgbClr val="0F7B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315968" y="3063240"/>
            <a:ext cx="1408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Lilian</a:t>
            </a:r>
            <a:endParaRPr lang="en-US" sz="1350" dirty="0"/>
          </a:p>
        </p:txBody>
      </p:sp>
      <p:sp>
        <p:nvSpPr>
          <p:cNvPr id="56" name="Text 54"/>
          <p:cNvSpPr/>
          <p:nvPr/>
        </p:nvSpPr>
        <p:spPr>
          <a:xfrm>
            <a:off x="4315968" y="3538728"/>
            <a:ext cx="1408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6E7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AREAS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4315968" y="3703320"/>
            <a:ext cx="14081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GF</a:t>
            </a:r>
            <a:endParaRPr lang="en-US" sz="7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</a:t>
            </a:r>
            <a:endParaRPr lang="en-US" sz="7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 Carpark L1–5</a:t>
            </a:r>
            <a:endParaRPr lang="en-US" sz="7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prayer rooms/washrooms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4315968" y="4709160"/>
            <a:ext cx="1408176" cy="0"/>
          </a:xfrm>
          <a:prstGeom prst="line">
            <a:avLst/>
          </a:prstGeom>
          <a:noFill/>
          <a:ln w="9525">
            <a:solidFill>
              <a:srgbClr val="DCE3E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315968" y="4764024"/>
            <a:ext cx="1408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120" kern="0" dirty="0">
                <a:solidFill>
                  <a:srgbClr val="8A5C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PROVIDERS</a:t>
            </a:r>
            <a:endParaRPr lang="en-US" sz="650" dirty="0"/>
          </a:p>
        </p:txBody>
      </p:sp>
      <p:sp>
        <p:nvSpPr>
          <p:cNvPr id="60" name="Shape 58"/>
          <p:cNvSpPr/>
          <p:nvPr/>
        </p:nvSpPr>
        <p:spPr>
          <a:xfrm>
            <a:off x="4315968" y="4937760"/>
            <a:ext cx="1408176" cy="246888"/>
          </a:xfrm>
          <a:prstGeom prst="roundRect">
            <a:avLst>
              <a:gd name="adj" fmla="val 22222"/>
            </a:avLst>
          </a:prstGeom>
          <a:solidFill>
            <a:srgbClr val="FCF4E3"/>
          </a:solidFill>
          <a:ln w="9525">
            <a:solidFill>
              <a:srgbClr val="C8912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398264" y="5033772"/>
            <a:ext cx="54864" cy="54864"/>
          </a:xfrm>
          <a:prstGeom prst="ellipse">
            <a:avLst/>
          </a:prstGeom>
          <a:solidFill>
            <a:srgbClr val="C891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480560" y="4937760"/>
            <a:ext cx="12435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A5C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Arabia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6309360" y="3063240"/>
            <a:ext cx="1664208" cy="2505456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4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6309360" y="3063240"/>
            <a:ext cx="1664208" cy="420624"/>
          </a:xfrm>
          <a:prstGeom prst="roundRect">
            <a:avLst>
              <a:gd name="adj" fmla="val 15217"/>
            </a:avLst>
          </a:prstGeom>
          <a:solidFill>
            <a:srgbClr val="BF5A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309360" y="3273552"/>
            <a:ext cx="1664208" cy="210312"/>
          </a:xfrm>
          <a:prstGeom prst="rect">
            <a:avLst/>
          </a:prstGeom>
          <a:solidFill>
            <a:srgbClr val="BF5A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437376" y="3063240"/>
            <a:ext cx="1408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Shah</a:t>
            </a:r>
            <a:endParaRPr lang="en-US" sz="1350" dirty="0"/>
          </a:p>
        </p:txBody>
      </p:sp>
      <p:sp>
        <p:nvSpPr>
          <p:cNvPr id="67" name="Text 65"/>
          <p:cNvSpPr/>
          <p:nvPr/>
        </p:nvSpPr>
        <p:spPr>
          <a:xfrm>
            <a:off x="6437376" y="3538728"/>
            <a:ext cx="1408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6E7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AREAS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6437376" y="3703320"/>
            <a:ext cx="14081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Zabeel</a:t>
            </a:r>
            <a:endParaRPr lang="en-US" sz="7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Zabeel Parking</a:t>
            </a:r>
            <a:endParaRPr lang="en-US" sz="7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Zabeel External</a:t>
            </a:r>
            <a:endParaRPr lang="en-US" sz="7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LB/Garbage room</a:t>
            </a:r>
            <a:endParaRPr lang="en-US" sz="7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prayer rooms/washrooms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6437376" y="4709160"/>
            <a:ext cx="1408176" cy="0"/>
          </a:xfrm>
          <a:prstGeom prst="line">
            <a:avLst/>
          </a:prstGeom>
          <a:noFill/>
          <a:ln w="9525">
            <a:solidFill>
              <a:srgbClr val="DCE3E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437376" y="4764024"/>
            <a:ext cx="1408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120" kern="0" dirty="0">
                <a:solidFill>
                  <a:srgbClr val="8A5C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PROVIDERS</a:t>
            </a:r>
            <a:endParaRPr lang="en-US" sz="650" dirty="0"/>
          </a:p>
        </p:txBody>
      </p:sp>
      <p:sp>
        <p:nvSpPr>
          <p:cNvPr id="71" name="Shape 69"/>
          <p:cNvSpPr/>
          <p:nvPr/>
        </p:nvSpPr>
        <p:spPr>
          <a:xfrm>
            <a:off x="6437376" y="4937760"/>
            <a:ext cx="1408176" cy="246888"/>
          </a:xfrm>
          <a:prstGeom prst="roundRect">
            <a:avLst>
              <a:gd name="adj" fmla="val 22222"/>
            </a:avLst>
          </a:prstGeom>
          <a:solidFill>
            <a:srgbClr val="FCF4E3"/>
          </a:solidFill>
          <a:ln w="9525">
            <a:solidFill>
              <a:srgbClr val="C8912A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519672" y="5033772"/>
            <a:ext cx="54864" cy="54864"/>
          </a:xfrm>
          <a:prstGeom prst="ellipse">
            <a:avLst/>
          </a:prstGeom>
          <a:solidFill>
            <a:srgbClr val="C891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601968" y="4937760"/>
            <a:ext cx="12435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A5C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Pest Free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8174736" y="3063240"/>
            <a:ext cx="1664208" cy="2505456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4000"/>
              </a:srgbClr>
            </a:outerShdw>
          </a:effectLst>
        </p:spPr>
      </p:sp>
      <p:sp>
        <p:nvSpPr>
          <p:cNvPr id="75" name="Shape 73"/>
          <p:cNvSpPr/>
          <p:nvPr/>
        </p:nvSpPr>
        <p:spPr>
          <a:xfrm>
            <a:off x="8174736" y="3063240"/>
            <a:ext cx="1664208" cy="420624"/>
          </a:xfrm>
          <a:prstGeom prst="roundRect">
            <a:avLst>
              <a:gd name="adj" fmla="val 15217"/>
            </a:avLst>
          </a:prstGeom>
          <a:solidFill>
            <a:srgbClr val="BF5A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174736" y="3273552"/>
            <a:ext cx="1664208" cy="210312"/>
          </a:xfrm>
          <a:prstGeom prst="rect">
            <a:avLst/>
          </a:prstGeom>
          <a:solidFill>
            <a:srgbClr val="BF5A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8302752" y="3063240"/>
            <a:ext cx="1408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Anjie</a:t>
            </a:r>
            <a:endParaRPr lang="en-US" sz="1350" dirty="0"/>
          </a:p>
        </p:txBody>
      </p:sp>
      <p:sp>
        <p:nvSpPr>
          <p:cNvPr id="78" name="Text 76"/>
          <p:cNvSpPr/>
          <p:nvPr/>
        </p:nvSpPr>
        <p:spPr>
          <a:xfrm>
            <a:off x="8302752" y="3538728"/>
            <a:ext cx="1408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6E7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AREAS</a:t>
            </a:r>
            <a:endParaRPr lang="en-US" sz="700" dirty="0"/>
          </a:p>
        </p:txBody>
      </p:sp>
      <p:sp>
        <p:nvSpPr>
          <p:cNvPr id="79" name="Text 77"/>
          <p:cNvSpPr/>
          <p:nvPr/>
        </p:nvSpPr>
        <p:spPr>
          <a:xfrm>
            <a:off x="8302752" y="3703320"/>
            <a:ext cx="14081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FV</a:t>
            </a:r>
            <a:endParaRPr lang="en-US" sz="7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</a:t>
            </a:r>
            <a:endParaRPr lang="en-US" sz="7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FV Parking and LB/waste collection room</a:t>
            </a:r>
            <a:endParaRPr lang="en-US" sz="7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prayer rooms/washrooms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8302752" y="4709160"/>
            <a:ext cx="1408176" cy="0"/>
          </a:xfrm>
          <a:prstGeom prst="line">
            <a:avLst/>
          </a:prstGeom>
          <a:noFill/>
          <a:ln w="9525">
            <a:solidFill>
              <a:srgbClr val="DCE3EC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8302752" y="4764024"/>
            <a:ext cx="1408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120" kern="0" dirty="0">
                <a:solidFill>
                  <a:srgbClr val="8A5C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PROVIDERS</a:t>
            </a:r>
            <a:endParaRPr lang="en-US" sz="650" dirty="0"/>
          </a:p>
        </p:txBody>
      </p:sp>
      <p:sp>
        <p:nvSpPr>
          <p:cNvPr id="82" name="Shape 80"/>
          <p:cNvSpPr/>
          <p:nvPr/>
        </p:nvSpPr>
        <p:spPr>
          <a:xfrm>
            <a:off x="8302752" y="4937760"/>
            <a:ext cx="1408176" cy="246888"/>
          </a:xfrm>
          <a:prstGeom prst="roundRect">
            <a:avLst>
              <a:gd name="adj" fmla="val 22222"/>
            </a:avLst>
          </a:prstGeom>
          <a:solidFill>
            <a:srgbClr val="FCF4E3"/>
          </a:solidFill>
          <a:ln w="9525">
            <a:solidFill>
              <a:srgbClr val="C8912A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8385048" y="5033772"/>
            <a:ext cx="54864" cy="54864"/>
          </a:xfrm>
          <a:prstGeom prst="ellipse">
            <a:avLst/>
          </a:prstGeom>
          <a:solidFill>
            <a:srgbClr val="C891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8467344" y="4937760"/>
            <a:ext cx="12435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A5C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U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10040112" y="3063240"/>
            <a:ext cx="1664208" cy="2505456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4000"/>
              </a:srgbClr>
            </a:outerShdw>
          </a:effectLst>
        </p:spPr>
      </p:sp>
      <p:sp>
        <p:nvSpPr>
          <p:cNvPr id="86" name="Shape 84"/>
          <p:cNvSpPr/>
          <p:nvPr/>
        </p:nvSpPr>
        <p:spPr>
          <a:xfrm>
            <a:off x="10040112" y="3063240"/>
            <a:ext cx="1664208" cy="420624"/>
          </a:xfrm>
          <a:prstGeom prst="roundRect">
            <a:avLst>
              <a:gd name="adj" fmla="val 15217"/>
            </a:avLst>
          </a:prstGeom>
          <a:solidFill>
            <a:srgbClr val="BF5A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0040112" y="3273552"/>
            <a:ext cx="1664208" cy="210312"/>
          </a:xfrm>
          <a:prstGeom prst="rect">
            <a:avLst/>
          </a:prstGeom>
          <a:solidFill>
            <a:srgbClr val="BF5A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10168128" y="3063240"/>
            <a:ext cx="1408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Dauson</a:t>
            </a:r>
            <a:endParaRPr lang="en-US" sz="1350" dirty="0"/>
          </a:p>
        </p:txBody>
      </p:sp>
      <p:sp>
        <p:nvSpPr>
          <p:cNvPr id="89" name="Text 87"/>
          <p:cNvSpPr/>
          <p:nvPr/>
        </p:nvSpPr>
        <p:spPr>
          <a:xfrm>
            <a:off x="10168128" y="3538728"/>
            <a:ext cx="1408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6E7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AREAS</a:t>
            </a:r>
            <a:endParaRPr lang="en-US" sz="700" dirty="0"/>
          </a:p>
        </p:txBody>
      </p:sp>
      <p:sp>
        <p:nvSpPr>
          <p:cNvPr id="90" name="Text 88"/>
          <p:cNvSpPr/>
          <p:nvPr/>
        </p:nvSpPr>
        <p:spPr>
          <a:xfrm>
            <a:off x="10168128" y="3703320"/>
            <a:ext cx="14081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Floor</a:t>
            </a:r>
            <a:endParaRPr lang="en-US" sz="7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 Link</a:t>
            </a:r>
            <a:endParaRPr lang="en-US" sz="7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SFFC</a:t>
            </a:r>
            <a:endParaRPr lang="en-US" sz="7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 Parking L6–10</a:t>
            </a:r>
            <a:endParaRPr lang="en-US" sz="7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collection room</a:t>
            </a:r>
            <a:endParaRPr lang="en-US" sz="750" dirty="0"/>
          </a:p>
        </p:txBody>
      </p:sp>
      <p:sp>
        <p:nvSpPr>
          <p:cNvPr id="91" name="Shape 89"/>
          <p:cNvSpPr/>
          <p:nvPr/>
        </p:nvSpPr>
        <p:spPr>
          <a:xfrm>
            <a:off x="10168128" y="4709160"/>
            <a:ext cx="1408176" cy="0"/>
          </a:xfrm>
          <a:prstGeom prst="line">
            <a:avLst/>
          </a:prstGeom>
          <a:noFill/>
          <a:ln w="9525">
            <a:solidFill>
              <a:srgbClr val="DCE3EC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0168128" y="4764024"/>
            <a:ext cx="1408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120" kern="0" dirty="0">
                <a:solidFill>
                  <a:srgbClr val="8A5C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PROVIDERS</a:t>
            </a:r>
            <a:endParaRPr lang="en-US" sz="650" dirty="0"/>
          </a:p>
        </p:txBody>
      </p:sp>
      <p:sp>
        <p:nvSpPr>
          <p:cNvPr id="93" name="Shape 91"/>
          <p:cNvSpPr/>
          <p:nvPr/>
        </p:nvSpPr>
        <p:spPr>
          <a:xfrm>
            <a:off x="10168128" y="4937760"/>
            <a:ext cx="1408176" cy="246888"/>
          </a:xfrm>
          <a:prstGeom prst="roundRect">
            <a:avLst>
              <a:gd name="adj" fmla="val 22222"/>
            </a:avLst>
          </a:prstGeom>
          <a:solidFill>
            <a:srgbClr val="FCF4E3"/>
          </a:solidFill>
          <a:ln w="9525">
            <a:solidFill>
              <a:srgbClr val="C8912A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0250424" y="5033772"/>
            <a:ext cx="54864" cy="54864"/>
          </a:xfrm>
          <a:prstGeom prst="ellipse">
            <a:avLst/>
          </a:prstGeom>
          <a:solidFill>
            <a:srgbClr val="C891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10332720" y="4937760"/>
            <a:ext cx="12435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A5C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Avalon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Providers &amp; Accountability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1298448"/>
            <a:ext cx="11247120" cy="960120"/>
          </a:xfrm>
          <a:prstGeom prst="roundRect">
            <a:avLst>
              <a:gd name="adj" fmla="val 7619"/>
            </a:avLst>
          </a:prstGeom>
          <a:solidFill>
            <a:srgbClr val="1B2A4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38100" dir="5400000">
              <a:srgbClr val="1B2A4A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86384" y="1636776"/>
            <a:ext cx="274320" cy="274320"/>
          </a:xfrm>
          <a:prstGeom prst="ellipse">
            <a:avLst/>
          </a:prstGeom>
          <a:solidFill>
            <a:srgbClr val="C891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07008" y="144475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Transguard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07008" y="181965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across all teams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0" y="1298448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40" kern="0" dirty="0">
                <a:solidFill>
                  <a:srgbClr val="C89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TEAM  —  BOTH REPORTING LINES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578608"/>
            <a:ext cx="2606040" cy="1225296"/>
          </a:xfrm>
          <a:prstGeom prst="roundRect">
            <a:avLst>
              <a:gd name="adj" fmla="val 522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8368" y="2816352"/>
            <a:ext cx="146304" cy="146304"/>
          </a:xfrm>
          <a:prstGeom prst="ellipse">
            <a:avLst/>
          </a:prstGeom>
          <a:solidFill>
            <a:srgbClr val="C891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72491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 Qasr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084832" y="2779776"/>
            <a:ext cx="777240" cy="219456"/>
          </a:xfrm>
          <a:prstGeom prst="roundRect">
            <a:avLst>
              <a:gd name="adj" fmla="val 20833"/>
            </a:avLst>
          </a:prstGeom>
          <a:solidFill>
            <a:srgbClr val="FCF4E3"/>
          </a:solidFill>
          <a:ln w="9525">
            <a:solidFill>
              <a:srgbClr val="C891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84832" y="2779776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spc="40" kern="0" dirty="0">
                <a:solidFill>
                  <a:srgbClr val="8A5C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CROSS-LINE</a:t>
            </a:r>
            <a:endParaRPr lang="en-US" sz="600" dirty="0"/>
          </a:p>
        </p:txBody>
      </p:sp>
      <p:sp>
        <p:nvSpPr>
          <p:cNvPr id="13" name="Shape 11"/>
          <p:cNvSpPr/>
          <p:nvPr/>
        </p:nvSpPr>
        <p:spPr>
          <a:xfrm>
            <a:off x="658368" y="3127248"/>
            <a:ext cx="2203704" cy="0"/>
          </a:xfrm>
          <a:prstGeom prst="line">
            <a:avLst/>
          </a:prstGeom>
          <a:noFill/>
          <a:ln w="9525">
            <a:solidFill>
              <a:srgbClr val="DCE3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3182112"/>
            <a:ext cx="2203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Yadab</a:t>
            </a:r>
            <a:pPr indent="0" marL="0">
              <a:buNone/>
            </a:pPr>
            <a:r>
              <a:rPr lang="en-US" sz="850" dirty="0">
                <a:solidFill>
                  <a:srgbClr val="6E7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(Winnie's team)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8368" y="345643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371600" y="3474720"/>
            <a:ext cx="841248" cy="237744"/>
          </a:xfrm>
          <a:prstGeom prst="roundRect">
            <a:avLst>
              <a:gd name="adj" fmla="val 23077"/>
            </a:avLst>
          </a:prstGeom>
          <a:solidFill>
            <a:srgbClr val="FBEDE4"/>
          </a:solidFill>
          <a:ln w="9525">
            <a:solidFill>
              <a:srgbClr val="BF5A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3474720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F5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Inam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337560" y="2578608"/>
            <a:ext cx="2606040" cy="1225296"/>
          </a:xfrm>
          <a:prstGeom prst="roundRect">
            <a:avLst>
              <a:gd name="adj" fmla="val 522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538728" y="2816352"/>
            <a:ext cx="146304" cy="146304"/>
          </a:xfrm>
          <a:prstGeom prst="ellipse">
            <a:avLst/>
          </a:prstGeom>
          <a:solidFill>
            <a:srgbClr val="C891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76472" y="2724912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 U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538728" y="3127248"/>
            <a:ext cx="2203704" cy="0"/>
          </a:xfrm>
          <a:prstGeom prst="line">
            <a:avLst/>
          </a:prstGeom>
          <a:noFill/>
          <a:ln w="9525">
            <a:solidFill>
              <a:srgbClr val="DCE3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38728" y="3182112"/>
            <a:ext cx="2203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Anjie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538728" y="345643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251960" y="3474720"/>
            <a:ext cx="841248" cy="237744"/>
          </a:xfrm>
          <a:prstGeom prst="roundRect">
            <a:avLst>
              <a:gd name="adj" fmla="val 23077"/>
            </a:avLst>
          </a:prstGeom>
          <a:solidFill>
            <a:srgbClr val="FBEDE4"/>
          </a:solidFill>
          <a:ln w="9525">
            <a:solidFill>
              <a:srgbClr val="BF5A2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51960" y="3474720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F5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Inam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217920" y="2578608"/>
            <a:ext cx="2606040" cy="1225296"/>
          </a:xfrm>
          <a:prstGeom prst="roundRect">
            <a:avLst>
              <a:gd name="adj" fmla="val 522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4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19088" y="2816352"/>
            <a:ext cx="146304" cy="146304"/>
          </a:xfrm>
          <a:prstGeom prst="ellipse">
            <a:avLst/>
          </a:prstGeom>
          <a:solidFill>
            <a:srgbClr val="C891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56832" y="2724912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Avalon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419088" y="3127248"/>
            <a:ext cx="2203704" cy="0"/>
          </a:xfrm>
          <a:prstGeom prst="line">
            <a:avLst/>
          </a:prstGeom>
          <a:noFill/>
          <a:ln w="9525">
            <a:solidFill>
              <a:srgbClr val="DCE3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19088" y="3182112"/>
            <a:ext cx="2203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Dauson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19088" y="345643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132320" y="3474720"/>
            <a:ext cx="841248" cy="237744"/>
          </a:xfrm>
          <a:prstGeom prst="roundRect">
            <a:avLst>
              <a:gd name="adj" fmla="val 23077"/>
            </a:avLst>
          </a:prstGeom>
          <a:solidFill>
            <a:srgbClr val="FBEDE4"/>
          </a:solidFill>
          <a:ln w="9525">
            <a:solidFill>
              <a:srgbClr val="BF5A2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32320" y="3474720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F5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Inam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9098280" y="2578608"/>
            <a:ext cx="2606040" cy="1225296"/>
          </a:xfrm>
          <a:prstGeom prst="roundRect">
            <a:avLst>
              <a:gd name="adj" fmla="val 522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4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9299448" y="2816352"/>
            <a:ext cx="146304" cy="146304"/>
          </a:xfrm>
          <a:prstGeom prst="ellipse">
            <a:avLst/>
          </a:prstGeom>
          <a:solidFill>
            <a:srgbClr val="C891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537192" y="2724912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Pest Free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9299448" y="3127248"/>
            <a:ext cx="2203704" cy="0"/>
          </a:xfrm>
          <a:prstGeom prst="line">
            <a:avLst/>
          </a:prstGeom>
          <a:noFill/>
          <a:ln w="9525">
            <a:solidFill>
              <a:srgbClr val="DCE3E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299448" y="3182112"/>
            <a:ext cx="2203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Shah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299448" y="345643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10012680" y="3474720"/>
            <a:ext cx="841248" cy="237744"/>
          </a:xfrm>
          <a:prstGeom prst="roundRect">
            <a:avLst>
              <a:gd name="adj" fmla="val 23077"/>
            </a:avLst>
          </a:prstGeom>
          <a:solidFill>
            <a:srgbClr val="FBEDE4"/>
          </a:solidFill>
          <a:ln w="9525">
            <a:solidFill>
              <a:srgbClr val="BF5A2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012680" y="3474720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F5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Inam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57200" y="3950208"/>
            <a:ext cx="2606040" cy="1225296"/>
          </a:xfrm>
          <a:prstGeom prst="roundRect">
            <a:avLst>
              <a:gd name="adj" fmla="val 522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4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58368" y="4187952"/>
            <a:ext cx="146304" cy="146304"/>
          </a:xfrm>
          <a:prstGeom prst="ellipse">
            <a:avLst/>
          </a:prstGeom>
          <a:solidFill>
            <a:srgbClr val="C891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96112" y="4096512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Marblelife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658368" y="4498848"/>
            <a:ext cx="2203704" cy="0"/>
          </a:xfrm>
          <a:prstGeom prst="line">
            <a:avLst/>
          </a:prstGeom>
          <a:noFill/>
          <a:ln w="9525">
            <a:solidFill>
              <a:srgbClr val="DCE3E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8368" y="4553712"/>
            <a:ext cx="2203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58368" y="482803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1371600" y="4846320"/>
            <a:ext cx="841248" cy="237744"/>
          </a:xfrm>
          <a:prstGeom prst="roundRect">
            <a:avLst>
              <a:gd name="adj" fmla="val 23077"/>
            </a:avLst>
          </a:prstGeom>
          <a:solidFill>
            <a:srgbClr val="E7F2F4"/>
          </a:solidFill>
          <a:ln w="9525">
            <a:solidFill>
              <a:srgbClr val="0F7B8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371600" y="4846320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Winnie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3337560" y="3950208"/>
            <a:ext cx="2606040" cy="1225296"/>
          </a:xfrm>
          <a:prstGeom prst="roundRect">
            <a:avLst>
              <a:gd name="adj" fmla="val 522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4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3538728" y="4187952"/>
            <a:ext cx="146304" cy="146304"/>
          </a:xfrm>
          <a:prstGeom prst="ellipse">
            <a:avLst/>
          </a:prstGeom>
          <a:solidFill>
            <a:srgbClr val="C891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776472" y="4096512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Rezaroma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3538728" y="4498848"/>
            <a:ext cx="2203704" cy="0"/>
          </a:xfrm>
          <a:prstGeom prst="line">
            <a:avLst/>
          </a:prstGeom>
          <a:noFill/>
          <a:ln w="9525">
            <a:solidFill>
              <a:srgbClr val="DCE3E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538728" y="4553712"/>
            <a:ext cx="2203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3538728" y="482803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4251960" y="4846320"/>
            <a:ext cx="841248" cy="237744"/>
          </a:xfrm>
          <a:prstGeom prst="roundRect">
            <a:avLst>
              <a:gd name="adj" fmla="val 23077"/>
            </a:avLst>
          </a:prstGeom>
          <a:solidFill>
            <a:srgbClr val="E7F2F4"/>
          </a:solidFill>
          <a:ln w="9525">
            <a:solidFill>
              <a:srgbClr val="0F7B8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251960" y="4846320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Winnie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6217920" y="3950208"/>
            <a:ext cx="2606040" cy="1225296"/>
          </a:xfrm>
          <a:prstGeom prst="roundRect">
            <a:avLst>
              <a:gd name="adj" fmla="val 522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4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6419088" y="4187952"/>
            <a:ext cx="146304" cy="146304"/>
          </a:xfrm>
          <a:prstGeom prst="ellipse">
            <a:avLst/>
          </a:prstGeom>
          <a:solidFill>
            <a:srgbClr val="C891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656832" y="4096512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Stores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6419088" y="4498848"/>
            <a:ext cx="2203704" cy="0"/>
          </a:xfrm>
          <a:prstGeom prst="line">
            <a:avLst/>
          </a:prstGeom>
          <a:noFill/>
          <a:ln w="9525">
            <a:solidFill>
              <a:srgbClr val="DCE3E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419088" y="4553712"/>
            <a:ext cx="2203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Yadab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6419088" y="482803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7132320" y="4846320"/>
            <a:ext cx="841248" cy="237744"/>
          </a:xfrm>
          <a:prstGeom prst="roundRect">
            <a:avLst>
              <a:gd name="adj" fmla="val 23077"/>
            </a:avLst>
          </a:prstGeom>
          <a:solidFill>
            <a:srgbClr val="E7F2F4"/>
          </a:solidFill>
          <a:ln w="9525">
            <a:solidFill>
              <a:srgbClr val="0F7B8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132320" y="4846320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Winnie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9098280" y="3950208"/>
            <a:ext cx="2606040" cy="1225296"/>
          </a:xfrm>
          <a:prstGeom prst="roundRect">
            <a:avLst>
              <a:gd name="adj" fmla="val 522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4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9299448" y="4187952"/>
            <a:ext cx="146304" cy="146304"/>
          </a:xfrm>
          <a:prstGeom prst="ellipse">
            <a:avLst/>
          </a:prstGeom>
          <a:solidFill>
            <a:srgbClr val="C891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9537192" y="4096512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Green Arabia</a:t>
            </a:r>
            <a:endParaRPr lang="en-US" sz="1400" dirty="0"/>
          </a:p>
        </p:txBody>
      </p:sp>
      <p:sp>
        <p:nvSpPr>
          <p:cNvPr id="69" name="Shape 67"/>
          <p:cNvSpPr/>
          <p:nvPr/>
        </p:nvSpPr>
        <p:spPr>
          <a:xfrm>
            <a:off x="9299448" y="4498848"/>
            <a:ext cx="2203704" cy="0"/>
          </a:xfrm>
          <a:prstGeom prst="line">
            <a:avLst/>
          </a:prstGeom>
          <a:noFill/>
          <a:ln w="9525">
            <a:solidFill>
              <a:srgbClr val="DCE3E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299448" y="4553712"/>
            <a:ext cx="2203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Lilian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9299448" y="482803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10012680" y="4846320"/>
            <a:ext cx="841248" cy="237744"/>
          </a:xfrm>
          <a:prstGeom prst="roundRect">
            <a:avLst>
              <a:gd name="adj" fmla="val 23077"/>
            </a:avLst>
          </a:prstGeom>
          <a:solidFill>
            <a:srgbClr val="E7F2F4"/>
          </a:solidFill>
          <a:ln w="9525">
            <a:solidFill>
              <a:srgbClr val="0F7B8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0012680" y="4846320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Winnie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457200" y="5504688"/>
            <a:ext cx="11247120" cy="548640"/>
          </a:xfrm>
          <a:prstGeom prst="roundRect">
            <a:avLst>
              <a:gd name="adj" fmla="val 11667"/>
            </a:avLst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13232" y="5504688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contractors</a:t>
            </a:r>
            <a:pPr indent="0" marL="0">
              <a:buNone/>
            </a:pPr>
            <a:r>
              <a:rPr lang="en-US" sz="1050" dirty="0">
                <a:solidFill>
                  <a:srgbClr val="6E7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engaged and managed as per SOW.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 Allocation &amp; Reporting Structure</dc:title>
  <dc:subject>PptxGenJS Presentation</dc:subject>
  <dc:creator>Team Allocation</dc:creator>
  <cp:lastModifiedBy>Team Allocation</cp:lastModifiedBy>
  <cp:revision>1</cp:revision>
  <dcterms:created xsi:type="dcterms:W3CDTF">2026-08-01T11:34:58Z</dcterms:created>
  <dcterms:modified xsi:type="dcterms:W3CDTF">2026-08-01T11:34:58Z</dcterms:modified>
</cp:coreProperties>
</file>