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two reporting lines (Winnie and Inam), Fatima's shared-support position, and the service providers assigned to each team 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chart. Winnie: Ahmed, Yadab. Inam: Shah, Anjie, Dauson, Lilian. Fatima (ERG) stands alone between the two and draws support from both. Gold chips mark the service providers each person owns; Transguard covers all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allocation reference. Fatima is the only person supported by both managers.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named providers. Transguard is shared across all teams; the rest sit with a single owner and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B2A4A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0F7B8A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OPERATIONS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Allocation &amp;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Structure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AF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reports to Winnie, who reports to Inam, the areas each person owns, and the service providers sitting under them.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47091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53675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37560" y="47091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37560" y="53675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0" y="47091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852160" y="53675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F3D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6144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Allocation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&amp; Reporting Chart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line = direct report   ·   Dashed line = support relationship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635240" y="42976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54696" y="365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Winnie's team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052560" y="42976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2016" y="365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Inam's team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469880" y="42976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89336" y="365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325880" y="1371600"/>
            <a:ext cx="2651760" cy="914400"/>
          </a:xfrm>
          <a:prstGeom prst="roundRect">
            <a:avLst>
              <a:gd name="adj" fmla="val 7000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27048" y="145389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Winnie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27048" y="17739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527048" y="1975104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FAE · District &amp; Mall FF · LG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2651760" cy="914400"/>
          </a:xfrm>
          <a:prstGeom prst="roundRect">
            <a:avLst>
              <a:gd name="adj" fmla="val 7000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85048" y="145389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Inam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85048" y="17739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FB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385048" y="1975104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Zabeel · FV · CT · Mall GF · SF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937760" y="1481328"/>
            <a:ext cx="2286000" cy="694944"/>
          </a:xfrm>
          <a:prstGeom prst="roundRect">
            <a:avLst>
              <a:gd name="adj" fmla="val 9211"/>
            </a:avLst>
          </a:prstGeom>
          <a:solidFill>
            <a:srgbClr val="F7F9FC"/>
          </a:solidFill>
          <a:ln w="15875">
            <a:solidFill>
              <a:srgbClr val="5B6B82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102352" y="1554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Fatima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102352" y="1847088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17720" y="22219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alone — supported by Winnie &amp; Inam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977640" y="1828800"/>
            <a:ext cx="960120" cy="0"/>
          </a:xfrm>
          <a:prstGeom prst="line">
            <a:avLst/>
          </a:prstGeom>
          <a:noFill/>
          <a:ln w="15875">
            <a:solidFill>
              <a:srgbClr val="5B6B82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23760" y="1828800"/>
            <a:ext cx="960120" cy="0"/>
          </a:xfrm>
          <a:prstGeom prst="line">
            <a:avLst/>
          </a:prstGeom>
          <a:noFill/>
          <a:ln w="15875">
            <a:solidFill>
              <a:srgbClr val="5B6B82"/>
            </a:solidFill>
            <a:prstDash val="dash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2286000"/>
            <a:ext cx="0" cy="41148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89304" y="2697480"/>
            <a:ext cx="1865376" cy="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9304" y="2697480"/>
            <a:ext cx="0" cy="36576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54680" y="2697480"/>
            <a:ext cx="0" cy="36576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9760" y="2286000"/>
            <a:ext cx="0" cy="41148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76088" y="2697480"/>
            <a:ext cx="5596128" cy="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76088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41464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06840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72216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3273552"/>
            <a:ext cx="1664208" cy="210312"/>
          </a:xfrm>
          <a:prstGeom prst="rect">
            <a:avLst/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585216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85216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 Mall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2 &amp; 4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Room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85216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5216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85216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7512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Marblelife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85216" y="5120640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512" y="5216652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9808" y="51206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Rezaroma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22576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322576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2576" y="3273552"/>
            <a:ext cx="1664208" cy="210312"/>
          </a:xfrm>
          <a:prstGeom prst="rect">
            <a:avLst/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0592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Yadab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2450592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450592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3 &amp; 1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50592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50592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2450592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32888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5184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443984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443984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443984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0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Shah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572000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 Parking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 Control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572000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4572000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54296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36592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 Free *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09360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309360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309360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37376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Anjie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6437376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437376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6437376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37376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6437376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519672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601968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Qasr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437376" y="5120640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519672" y="5216652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01968" y="51206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174736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8174736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174736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302752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Dauson</a:t>
            </a:r>
            <a:endParaRPr lang="en-US" sz="1350" dirty="0"/>
          </a:p>
        </p:txBody>
      </p:sp>
      <p:sp>
        <p:nvSpPr>
          <p:cNvPr id="88" name="Text 86"/>
          <p:cNvSpPr/>
          <p:nvPr/>
        </p:nvSpPr>
        <p:spPr>
          <a:xfrm>
            <a:off x="8302752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8302752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Link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 Parking L6–10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Room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8302752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02752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8302752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385048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467344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Avalon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10040112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10040112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040112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168128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Lilian</a:t>
            </a:r>
            <a:endParaRPr lang="en-US" sz="1350" dirty="0"/>
          </a:p>
        </p:txBody>
      </p:sp>
      <p:sp>
        <p:nvSpPr>
          <p:cNvPr id="99" name="Text 97"/>
          <p:cNvSpPr/>
          <p:nvPr/>
        </p:nvSpPr>
        <p:spPr>
          <a:xfrm>
            <a:off x="10168128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10168128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 Carpark L1–5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0168128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168128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10168128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250424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Arabia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457200" y="5669280"/>
            <a:ext cx="11247120" cy="566928"/>
          </a:xfrm>
          <a:prstGeom prst="roundRect">
            <a:avLst>
              <a:gd name="adj" fmla="val 11290"/>
            </a:avLst>
          </a:prstGeom>
          <a:solidFill>
            <a:srgbClr val="FCF4E3"/>
          </a:solidFill>
          <a:ln w="12700">
            <a:solidFill>
              <a:srgbClr val="C8912A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85800" y="5870448"/>
            <a:ext cx="164592" cy="164592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41832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Transguard</a:t>
            </a:r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deployed across all teams, both reporting lines.        </a:t>
            </a:r>
            <a:pPr indent="0" marL="0">
              <a:buNone/>
            </a:pPr>
            <a:r>
              <a:rPr lang="en-US" sz="105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contractors</a:t>
            </a:r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engaged as per SOW.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457200" y="634593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Cross-line by design: Pest Free is owned day to day by Shah (Inam's team), with Winnie holding manager oversight.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&amp; Provider Allocation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person, the areas they hold, and the providers they manage.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E7F2F4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188720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  </a:t>
            </a:r>
            <a:pPr indent="0" marL="0">
              <a:buNone/>
            </a:pPr>
            <a:r>
              <a:rPr lang="en-US" sz="9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 · District &amp; Mall FF · LG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1188720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FBEDE4"/>
          </a:solidFill>
          <a:ln w="12700">
            <a:solidFill>
              <a:srgbClr val="BF5A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73368" y="1188720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  </a:t>
            </a:r>
            <a:pPr indent="0" marL="0">
              <a:buNone/>
            </a:pPr>
            <a:r>
              <a:rPr lang="en-US" sz="9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 · FV · CT · Mall GF · SF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197510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011680" y="19751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429000" y="1975104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OF RESPONSIBILITY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183880" y="197510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11247120" cy="0"/>
          </a:xfrm>
          <a:prstGeom prst="line">
            <a:avLst/>
          </a:prstGeom>
          <a:noFill/>
          <a:ln w="12700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0428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30428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011680" y="241401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41401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29000" y="230428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FAE, FF Mall, FP, LB 2 &amp; 4, Garbage Room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83880" y="252374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230428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Marblelife, Rezaroma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5292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8529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Yadab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011680" y="296265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9626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429000" y="285292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LG, Stores, GP, LB 3 &amp; 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183880" y="307238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48472" y="285292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0156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4015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Shah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011680" y="351129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11680" y="35112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29000" y="340156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Zabeel, Zabeel Parking, External, Pest Control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362102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48472" y="340156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 Free *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95020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Anjie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2011680" y="405993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0" y="40599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429000" y="395020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FV, CT, LB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83880" y="416966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8472" y="395020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Qasr, Serve U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9884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449884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Dauson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11680" y="460857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11680" y="460857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29000" y="449884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SF, Metro Link, FC, Cinema Parking Level 6–10, Garbage Room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183880" y="471830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48472" y="449884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Avalon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" y="504748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6928" y="504748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Lilian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2011680" y="515721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11680" y="515721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429000" y="504748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GF, District, Cinema Carpark Level 1–5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83880" y="526694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48472" y="504748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Arabia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559612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EEF1F6"/>
          </a:solidFill>
          <a:ln w="12700">
            <a:solidFill>
              <a:srgbClr val="5B6B82"/>
            </a:solidFill>
            <a:prstDash val="dash"/>
          </a:ln>
        </p:spPr>
      </p:sp>
      <p:sp>
        <p:nvSpPr>
          <p:cNvPr id="56" name="Text 54"/>
          <p:cNvSpPr/>
          <p:nvPr/>
        </p:nvSpPr>
        <p:spPr>
          <a:xfrm>
            <a:off x="566928" y="55961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Fatima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2011680" y="570585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EEF1F6"/>
          </a:solidFill>
          <a:ln w="9525">
            <a:solidFill>
              <a:srgbClr val="5B6B8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1680" y="570585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 + Inam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429000" y="559612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83880" y="55961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6928" y="6263640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Transguard</a:t>
            </a:r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supports every person above.  Other contractors as per SOW.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92240" y="621792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Cross-line by design: Pest Free is owned day to day by Shah (Inam's team), with Winnie holding manager oversight.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Providers &amp; Accountability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provider, the team member who runs it day to day, and the manager accountable.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636776"/>
            <a:ext cx="274320" cy="274320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144475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Transguard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07008" y="18196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the whole operation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0" y="1298448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40" kern="0" dirty="0">
                <a:solidFill>
                  <a:srgbClr val="C89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TEAM  —  BOTH REPORTING LINES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Qasr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Anjie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37160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33756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3872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7647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 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53872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3872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Anjie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5196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5196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21792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1908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1908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1908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Dauson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1908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09828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9944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3719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Arabia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9944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9944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Lilian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29944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01268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1268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836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Marblelife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5836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37160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33756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53872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7647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Rezaroma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53872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3872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25196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21792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41908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5683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Stores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1908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1908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Yadab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1908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13232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3232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09828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929944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537192" y="409651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Pest Free *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10725912" y="4151376"/>
            <a:ext cx="777240" cy="219456"/>
          </a:xfrm>
          <a:prstGeom prst="roundRect">
            <a:avLst>
              <a:gd name="adj" fmla="val 20833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725912" y="41513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4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CROSS-LINE</a:t>
            </a:r>
            <a:endParaRPr lang="en-US" sz="600" dirty="0"/>
          </a:p>
        </p:txBody>
      </p:sp>
      <p:sp>
        <p:nvSpPr>
          <p:cNvPr id="70" name="Shape 68"/>
          <p:cNvSpPr/>
          <p:nvPr/>
        </p:nvSpPr>
        <p:spPr>
          <a:xfrm>
            <a:off x="929944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9944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</a:t>
            </a:r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(Inam's team)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29944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1001268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57200" y="5504688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3232" y="55046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contractors</a:t>
            </a:r>
            <a:pPr indent="0" marL="0">
              <a:buNone/>
            </a:pPr>
            <a:r>
              <a:rPr lang="en-US" sz="10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engaged and managed as per SOW.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57200" y="616305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Cross-line by design: Pest Free is owned day to day by Shah (Inam's team), with Winnie holding manager oversight.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Allocation &amp; Reporting Structure</dc:title>
  <dc:subject>PptxGenJS Presentation</dc:subject>
  <dc:creator>Team Allocation</dc:creator>
  <cp:lastModifiedBy>Team Allocation</cp:lastModifiedBy>
  <cp:revision>1</cp:revision>
  <dcterms:created xsi:type="dcterms:W3CDTF">2026-07-31T16:30:58Z</dcterms:created>
  <dcterms:modified xsi:type="dcterms:W3CDTF">2026-07-31T16:30:58Z</dcterms:modified>
</cp:coreProperties>
</file>